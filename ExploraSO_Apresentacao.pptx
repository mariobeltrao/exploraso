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_CREAM">
    <p:bg>
      <p:bgPr>
        <a:solidFill>
          <a:srgbClr val="F1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46304"/>
            <a:ext cx="11859768" cy="6528816"/>
          </a:xfrm>
          <a:prstGeom prst="rect">
            <a:avLst>
              <a:gd name="adj" fmla="val 2521"/>
            </a:avLst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8A7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_ORANGE">
    <p:bg>
      <p:bgPr>
        <a:solidFill>
          <a:srgbClr val="F65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46304"/>
            <a:ext cx="11859768" cy="6528816"/>
          </a:xfrm>
          <a:prstGeom prst="rect">
            <a:avLst>
              <a:gd name="adj" fmla="val 2521"/>
            </a:avLst>
          </a:prstGeom>
          <a:solidFill>
            <a:srgbClr val="F65A2C"/>
          </a:solidFill>
          <a:ln w="12700">
            <a:solidFill>
              <a:srgbClr val="F65A2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7D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8A7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600000">
            <a:off x="612648" y="566928"/>
            <a:ext cx="210312" cy="210312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F6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84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ExploraSO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 rot="2400000">
            <a:off x="9646920" y="-228600"/>
            <a:ext cx="2514600" cy="2514600"/>
          </a:xfrm>
          <a:prstGeom prst="blockArc">
            <a:avLst/>
          </a:prstGeom>
          <a:solidFill>
            <a:srgbClr val="F65A2C"/>
          </a:solidFill>
          <a:ln w="12700">
            <a:solidFill>
              <a:srgbClr val="F65A2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0000">
            <a:off x="9665208" y="1847088"/>
            <a:ext cx="2697480" cy="2697480"/>
          </a:xfrm>
          <a:prstGeom prst="blockArc">
            <a:avLst/>
          </a:prstGeom>
          <a:solidFill>
            <a:srgbClr val="F65A2C"/>
          </a:solidFill>
          <a:ln w="12700">
            <a:solidFill>
              <a:srgbClr val="F65A2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7360920" y="4526280"/>
            <a:ext cx="2148840" cy="2148840"/>
          </a:xfrm>
          <a:prstGeom prst="blockArc">
            <a:avLst/>
          </a:prstGeom>
          <a:solidFill>
            <a:srgbClr val="F65A2C"/>
          </a:solidFill>
          <a:ln w="12700">
            <a:solidFill>
              <a:srgbClr val="F65A2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ExploraSO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82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Explorador de Serviços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82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Sistema Operacional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D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 acadêmica em Python 3 • Sistemas Operacionais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41248" y="4901184"/>
            <a:ext cx="310896" cy="82296"/>
          </a:xfrm>
          <a:prstGeom prst="rect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64282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acadêmica • ExploraSO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8A7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-320040" y="4434840"/>
            <a:ext cx="1828800" cy="1828800"/>
          </a:xfrm>
          <a:prstGeom prst="blockArc">
            <a:avLst/>
          </a:prstGeom>
          <a:solidFill>
            <a:srgbClr val="F9825B">
              <a:alpha val="78000"/>
            </a:srgbClr>
          </a:solidFill>
          <a:ln w="12700">
            <a:solidFill>
              <a:srgbClr val="F9825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00000">
            <a:off x="2606040" y="4681728"/>
            <a:ext cx="1600200" cy="1600200"/>
          </a:xfrm>
          <a:prstGeom prst="blockArc">
            <a:avLst/>
          </a:prstGeom>
          <a:solidFill>
            <a:srgbClr val="F9825B">
              <a:alpha val="78000"/>
            </a:srgbClr>
          </a:solidFill>
          <a:ln w="12700">
            <a:solidFill>
              <a:srgbClr val="F982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66360" y="4617720"/>
            <a:ext cx="1645920" cy="1645920"/>
          </a:xfrm>
          <a:prstGeom prst="blockArc">
            <a:avLst/>
          </a:prstGeom>
          <a:solidFill>
            <a:srgbClr val="F9825B">
              <a:alpha val="78000"/>
            </a:srgbClr>
          </a:solidFill>
          <a:ln w="12700">
            <a:solidFill>
              <a:srgbClr val="F9825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8138160" y="4526280"/>
            <a:ext cx="1737360" cy="1737360"/>
          </a:xfrm>
          <a:prstGeom prst="blockArc">
            <a:avLst/>
          </a:prstGeom>
          <a:solidFill>
            <a:srgbClr val="F9825B">
              <a:alpha val="78000"/>
            </a:srgbClr>
          </a:solidFill>
          <a:ln w="12700">
            <a:solidFill>
              <a:srgbClr val="F9825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40280" y="102412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EE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Vamos falar sobre...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463040" y="2743200"/>
            <a:ext cx="1645920" cy="0"/>
          </a:xfrm>
          <a:prstGeom prst="line">
            <a:avLst/>
          </a:prstGeom>
          <a:noFill/>
          <a:ln w="25400">
            <a:solidFill>
              <a:srgbClr val="2828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560320"/>
            <a:ext cx="429768" cy="429768"/>
          </a:xfrm>
          <a:prstGeom prst="ellipse">
            <a:avLst/>
          </a:prstGeom>
          <a:solidFill>
            <a:srgbClr val="161612"/>
          </a:solidFill>
          <a:ln w="12700">
            <a:solidFill>
              <a:srgbClr val="1616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38044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32461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projeto</a:t>
            </a:r>
            <a:endParaRPr lang="en-US" sz="1330" dirty="0"/>
          </a:p>
        </p:txBody>
      </p:sp>
      <p:sp>
        <p:nvSpPr>
          <p:cNvPr id="11" name="Shape 9"/>
          <p:cNvSpPr/>
          <p:nvPr/>
        </p:nvSpPr>
        <p:spPr>
          <a:xfrm>
            <a:off x="3611880" y="2743200"/>
            <a:ext cx="1645920" cy="0"/>
          </a:xfrm>
          <a:prstGeom prst="line">
            <a:avLst/>
          </a:prstGeom>
          <a:noFill/>
          <a:ln w="25400">
            <a:solidFill>
              <a:srgbClr val="2828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2560320"/>
            <a:ext cx="429768" cy="429768"/>
          </a:xfrm>
          <a:prstGeom prst="ellipse">
            <a:avLst/>
          </a:prstGeom>
          <a:solidFill>
            <a:srgbClr val="161612"/>
          </a:solidFill>
          <a:ln w="12700">
            <a:solidFill>
              <a:srgbClr val="1616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638044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16352" y="32461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5760720" y="2743200"/>
            <a:ext cx="1645920" cy="0"/>
          </a:xfrm>
          <a:prstGeom prst="line">
            <a:avLst/>
          </a:prstGeom>
          <a:noFill/>
          <a:ln w="25400">
            <a:solidFill>
              <a:srgbClr val="2828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560320"/>
            <a:ext cx="429768" cy="429768"/>
          </a:xfrm>
          <a:prstGeom prst="ellipse">
            <a:avLst/>
          </a:prstGeom>
          <a:solidFill>
            <a:srgbClr val="161612"/>
          </a:solidFill>
          <a:ln w="12700">
            <a:solidFill>
              <a:srgbClr val="1616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638044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65192" y="32461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Operações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implementadas</a:t>
            </a:r>
            <a:endParaRPr lang="en-US" sz="1330" dirty="0"/>
          </a:p>
        </p:txBody>
      </p:sp>
      <p:sp>
        <p:nvSpPr>
          <p:cNvPr id="19" name="Shape 17"/>
          <p:cNvSpPr/>
          <p:nvPr/>
        </p:nvSpPr>
        <p:spPr>
          <a:xfrm>
            <a:off x="7909560" y="2743200"/>
            <a:ext cx="1645920" cy="0"/>
          </a:xfrm>
          <a:prstGeom prst="line">
            <a:avLst/>
          </a:prstGeom>
          <a:noFill/>
          <a:ln w="25400">
            <a:solidFill>
              <a:srgbClr val="2828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2560320"/>
            <a:ext cx="429768" cy="429768"/>
          </a:xfrm>
          <a:prstGeom prst="ellipse">
            <a:avLst/>
          </a:prstGeom>
          <a:solidFill>
            <a:srgbClr val="161612"/>
          </a:solidFill>
          <a:ln w="12700">
            <a:solidFill>
              <a:srgbClr val="1616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638044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14032" y="32461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Demonstração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prática</a:t>
            </a:r>
            <a:endParaRPr lang="en-US" sz="1330" dirty="0"/>
          </a:p>
        </p:txBody>
      </p:sp>
      <p:sp>
        <p:nvSpPr>
          <p:cNvPr id="23" name="Shape 21"/>
          <p:cNvSpPr/>
          <p:nvPr/>
        </p:nvSpPr>
        <p:spPr>
          <a:xfrm>
            <a:off x="9601200" y="2560320"/>
            <a:ext cx="429768" cy="429768"/>
          </a:xfrm>
          <a:prstGeom prst="ellipse">
            <a:avLst/>
          </a:prstGeom>
          <a:solidFill>
            <a:srgbClr val="161612"/>
          </a:solidFill>
          <a:ln w="12700">
            <a:solidFill>
              <a:srgbClr val="1616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2638044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62872" y="324612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Perguntas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chave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594360" y="64282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D5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Roteiro da apresentação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7D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600000">
            <a:off x="612648" y="566928"/>
            <a:ext cx="210312" cy="210312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F6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84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ExploraSO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" y="8412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o ExploraSO?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aplicação de terminal criada para demonstrar, de forma prática, como programas utilizam serviços fornecidos pelo Sistema Operacional.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D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projeto prioriza simplicidade, leitura do código e demonstração em sala — sem frameworks, sem banco de dados e sem dependências externas.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421538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77440" y="416052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4215384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/ CLI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26280" y="4160520"/>
            <a:ext cx="2240280" cy="384048"/>
          </a:xfrm>
          <a:prstGeom prst="roundRect">
            <a:avLst>
              <a:gd name="adj" fmla="val 28571"/>
            </a:avLst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4215384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Biblioteca padrão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0" y="1389888"/>
            <a:ext cx="3639312" cy="4462272"/>
          </a:xfrm>
          <a:prstGeom prst="roundRect">
            <a:avLst>
              <a:gd name="adj" fmla="val 3518"/>
            </a:avLst>
          </a:prstGeom>
          <a:solidFill>
            <a:srgbClr val="E9E4D6"/>
          </a:solidFill>
          <a:ln w="12700">
            <a:solidFill>
              <a:srgbClr val="E9E4D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783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06840" y="18928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operações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863840" y="3017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006840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63840" y="42519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006840" y="4361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dependências externas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909560" y="5257800"/>
            <a:ext cx="2743200" cy="0"/>
          </a:xfrm>
          <a:prstGeom prst="line">
            <a:avLst/>
          </a:prstGeom>
          <a:noFill/>
          <a:ln w="15240">
            <a:solidFill>
              <a:srgbClr val="BDB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5440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Validado no Windows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D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 Python 3.13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 rot="2700000">
            <a:off x="9921240" y="-45720"/>
            <a:ext cx="1965960" cy="1965960"/>
          </a:xfrm>
          <a:prstGeom prst="blockArc">
            <a:avLst/>
          </a:prstGeom>
          <a:solidFill>
            <a:srgbClr val="D8D3C5">
              <a:alpha val="80000"/>
            </a:srgbClr>
          </a:solidFill>
          <a:ln w="12700">
            <a:solidFill>
              <a:srgbClr val="D8D3C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4282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 e escopo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8A7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EE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aplicação ao kernel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5528" y="1417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ponto principal não é “chamar o hardware”, mas solicitar serviços ao SO através de interfaces.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42316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F77954"/>
          </a:solidFill>
          <a:ln w="12700">
            <a:solidFill>
              <a:srgbClr val="F779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82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Aplicação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88336" y="2788920"/>
            <a:ext cx="402336" cy="320040"/>
          </a:xfrm>
          <a:prstGeom prst="chevron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99232" y="242316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F77954"/>
          </a:solidFill>
          <a:ln w="12700">
            <a:solidFill>
              <a:srgbClr val="F77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6392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82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/ Runtime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136392" y="30175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01768" y="2788920"/>
            <a:ext cx="402336" cy="320040"/>
          </a:xfrm>
          <a:prstGeom prst="chevron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12664" y="242316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9824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Serviço do SO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49824" y="30175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arquivos • processos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0" y="2788920"/>
            <a:ext cx="402336" cy="320040"/>
          </a:xfrm>
          <a:prstGeom prst="chevron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242316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F77954"/>
          </a:solidFill>
          <a:ln w="12700">
            <a:solidFill>
              <a:srgbClr val="F77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63256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82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Kernel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63256" y="30175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 privilegiado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628632" y="2788920"/>
            <a:ext cx="402336" cy="320040"/>
          </a:xfrm>
          <a:prstGeom prst="chevron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39528" y="242316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F77954"/>
          </a:solidFill>
          <a:ln w="12700">
            <a:solidFill>
              <a:srgbClr val="F779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76688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82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076688" y="30175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 • CPU • memória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0120" y="4343400"/>
            <a:ext cx="10149840" cy="1325880"/>
          </a:xfrm>
          <a:prstGeom prst="roundRect">
            <a:avLst>
              <a:gd name="adj" fmla="val 9655"/>
            </a:avLst>
          </a:prstGeom>
          <a:solidFill>
            <a:srgbClr val="F1EEE3"/>
          </a:solidFill>
          <a:ln w="12700">
            <a:solidFill>
              <a:srgbClr val="F1EEE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1288" y="4507992"/>
            <a:ext cx="9747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Atenção ao conceito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61288" y="4910328"/>
            <a:ext cx="9747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Funções como open(), read(), write(), os.getpid() e subprocess.Popen() são APIs de alto nível. Elas não devem ser confundidas automaticamente com uma System Call específica.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94360" y="64282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D5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conceitual do projeto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7D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600000">
            <a:off x="612648" y="566928"/>
            <a:ext cx="210312" cy="210312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F6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84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ExploraSO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" y="8412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a aplicação faz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D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Seis operações distribuídas em quatro categorias didáticas de serviços do SO.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078992" y="2240280"/>
            <a:ext cx="1143000" cy="1143000"/>
          </a:xfrm>
          <a:prstGeom prst="ellipse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2487168"/>
            <a:ext cx="475488" cy="621792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1328" y="2642616"/>
            <a:ext cx="310896" cy="0"/>
          </a:xfrm>
          <a:prstGeom prst="line">
            <a:avLst/>
          </a:prstGeom>
          <a:noFill/>
          <a:ln w="15240">
            <a:solidFill>
              <a:srgbClr val="2828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1328" y="2788920"/>
            <a:ext cx="310896" cy="0"/>
          </a:xfrm>
          <a:prstGeom prst="line">
            <a:avLst/>
          </a:prstGeom>
          <a:noFill/>
          <a:ln w="15240">
            <a:solidFill>
              <a:srgbClr val="2828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0008" y="2798064"/>
            <a:ext cx="987552" cy="0"/>
          </a:xfrm>
          <a:prstGeom prst="line">
            <a:avLst/>
          </a:prstGeom>
          <a:noFill/>
          <a:ln w="19050">
            <a:solidFill>
              <a:srgbClr val="2828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Arquivos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952" y="4069080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arquivo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Escrever e ler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69848" y="5029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Opção 1–2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59352" y="2240280"/>
            <a:ext cx="1143000" cy="1143000"/>
          </a:xfrm>
          <a:prstGeom prst="ellipse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15384" y="2633472"/>
            <a:ext cx="621792" cy="393192"/>
          </a:xfrm>
          <a:prstGeom prst="roundRect">
            <a:avLst>
              <a:gd name="adj" fmla="val 11628"/>
            </a:avLst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542032"/>
            <a:ext cx="256032" cy="128016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0368" y="2798064"/>
            <a:ext cx="987552" cy="0"/>
          </a:xfrm>
          <a:prstGeom prst="line">
            <a:avLst/>
          </a:prstGeom>
          <a:noFill/>
          <a:ln w="19050">
            <a:solidFill>
              <a:srgbClr val="2828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Diretórios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639312" y="4069080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pasta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Listar conteúdo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950208" y="5029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Opção 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39712" y="2240280"/>
            <a:ext cx="1143000" cy="1143000"/>
          </a:xfrm>
          <a:prstGeom prst="ellipse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14032" y="2514600"/>
            <a:ext cx="585216" cy="429768"/>
          </a:xfrm>
          <a:prstGeom prst="rect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24344" y="2962656"/>
            <a:ext cx="0" cy="164592"/>
          </a:xfrm>
          <a:prstGeom prst="line">
            <a:avLst/>
          </a:prstGeom>
          <a:noFill/>
          <a:ln w="25400">
            <a:solidFill>
              <a:srgbClr val="F1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96328" y="3127248"/>
            <a:ext cx="256032" cy="0"/>
          </a:xfrm>
          <a:prstGeom prst="line">
            <a:avLst/>
          </a:prstGeom>
          <a:noFill/>
          <a:ln w="25400">
            <a:solidFill>
              <a:srgbClr val="F1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0728" y="2798064"/>
            <a:ext cx="987552" cy="0"/>
          </a:xfrm>
          <a:prstGeom prst="line">
            <a:avLst/>
          </a:prstGeom>
          <a:noFill/>
          <a:ln w="19050">
            <a:solidFill>
              <a:srgbClr val="2828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19672" y="4069080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• release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 • Python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30568" y="5029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Opção 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720072" y="2240280"/>
            <a:ext cx="1143000" cy="1143000"/>
          </a:xfrm>
          <a:prstGeom prst="ellipse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30968" y="2542032"/>
            <a:ext cx="256032" cy="256032"/>
          </a:xfrm>
          <a:prstGeom prst="ellipse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51008" y="2834640"/>
            <a:ext cx="256032" cy="256032"/>
          </a:xfrm>
          <a:prstGeom prst="ellipse">
            <a:avLst/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32136" y="2743200"/>
            <a:ext cx="210312" cy="182880"/>
          </a:xfrm>
          <a:prstGeom prst="line">
            <a:avLst/>
          </a:prstGeom>
          <a:noFill/>
          <a:ln w="25400">
            <a:solidFill>
              <a:srgbClr val="F1EE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0" y="3657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Processos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400032" y="4069080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PID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filho e aguardar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710928" y="5029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Opção 5–6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rot="2400000">
            <a:off x="9875520" y="-91440"/>
            <a:ext cx="1920240" cy="1920240"/>
          </a:xfrm>
          <a:prstGeom prst="blockArc">
            <a:avLst/>
          </a:prstGeom>
          <a:solidFill>
            <a:srgbClr val="DAD5C7">
              <a:alpha val="82000"/>
            </a:srgbClr>
          </a:solidFill>
          <a:ln w="12700">
            <a:solidFill>
              <a:srgbClr val="DAD5C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4282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Categorias e funcionalidades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8A7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400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EE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funciona na prática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31520" y="129844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menu permite testar cada serviço isoladamente ou executar a demonstração completa.</a:t>
            </a:r>
            <a:endParaRPr lang="en-US" sz="143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20231F"/>
          </a:solidFill>
          <a:ln w="12700">
            <a:solidFill>
              <a:srgbClr val="2023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python main.py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260604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1EE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ExploraSO ===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1EE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Criar arquivo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1EE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Escrever e ler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1EE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Diretórios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1EE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Informações do sistema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1EE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 Mostrar PID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1EE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 Processo filho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1EE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 Demonstração completa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F1EE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 Sair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987552" y="5321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A4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Escolha: 7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37960" y="19019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1EE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Demonstração completa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537960" y="2606040"/>
            <a:ext cx="438912" cy="438912"/>
          </a:xfrm>
          <a:prstGeom prst="ellipse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6791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68896" y="257860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2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Arquivos e diretórios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168896" y="29169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 • grava • lê • lista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537960" y="3657600"/>
            <a:ext cx="438912" cy="438912"/>
          </a:xfrm>
          <a:prstGeom prst="ellipse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7307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68896" y="36301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2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Informações do sistema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168896" y="39684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• arquitetura • runtime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537960" y="4709160"/>
            <a:ext cx="438912" cy="438912"/>
          </a:xfrm>
          <a:prstGeom prst="ellipse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78231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68896" y="46817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828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Processos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68896" y="50200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 • processo filho • wait()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537960" y="5623560"/>
            <a:ext cx="1691640" cy="384048"/>
          </a:xfrm>
          <a:prstGeom prst="roundRect">
            <a:avLst>
              <a:gd name="adj" fmla="val 28571"/>
            </a:avLst>
          </a:prstGeom>
          <a:solidFill>
            <a:srgbClr val="F1EEE3"/>
          </a:solidFill>
          <a:ln w="12700">
            <a:solidFill>
              <a:srgbClr val="F1E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567842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65A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~2 s de espera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0" y="5623560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85632" y="5678424"/>
            <a:ext cx="1911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repetível e seguro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64282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D5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Execução no VS Code / terminal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7D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600000">
            <a:off x="612648" y="566928"/>
            <a:ext cx="210312" cy="210312"/>
          </a:xfrm>
          <a:prstGeom prst="arc">
            <a:avLst/>
          </a:prstGeom>
          <a:solidFill>
            <a:srgbClr val="FFFFFF">
              <a:alpha val="0"/>
            </a:srgbClr>
          </a:solidFill>
          <a:ln w="38100">
            <a:solidFill>
              <a:srgbClr val="F65A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84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ExploraSO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04672" y="841248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Processos: o ponto mais importante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D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opção 6 mostra, de forma visual, o ciclo de criação e sincronização entre um processo pai e um processo filho.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2377440" cy="1828800"/>
          </a:xfrm>
          <a:prstGeom prst="roundRect">
            <a:avLst>
              <a:gd name="adj" fmla="val 7000"/>
            </a:avLst>
          </a:prstGeom>
          <a:solidFill>
            <a:srgbClr val="E9E4D6"/>
          </a:solidFill>
          <a:ln w="12700">
            <a:solidFill>
              <a:srgbClr val="E9E4D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54203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Processo pai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2944368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main.py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PID: os.getpid()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892040" y="2377440"/>
            <a:ext cx="2377440" cy="1828800"/>
          </a:xfrm>
          <a:prstGeom prst="roundRect">
            <a:avLst>
              <a:gd name="adj" fmla="val 7000"/>
            </a:avLst>
          </a:prstGeom>
          <a:solidFill>
            <a:srgbClr val="F65A2C"/>
          </a:solidFill>
          <a:ln w="12700">
            <a:solidFill>
              <a:srgbClr val="F65A2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93208" y="254203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1EE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Operacional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93208" y="2944368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 • identifica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agendar • sincroniza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915400" y="2377440"/>
            <a:ext cx="2377440" cy="1828800"/>
          </a:xfrm>
          <a:prstGeom prst="roundRect">
            <a:avLst>
              <a:gd name="adj" fmla="val 7000"/>
            </a:avLst>
          </a:prstGeom>
          <a:solidFill>
            <a:srgbClr val="E9E4D6"/>
          </a:solidFill>
          <a:ln w="12700">
            <a:solidFill>
              <a:srgbClr val="E9E4D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16568" y="2542032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Processo filho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16568" y="2944368"/>
            <a:ext cx="1975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filho.py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 próprio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3520440" y="2999232"/>
            <a:ext cx="658368" cy="493776"/>
          </a:xfrm>
          <a:prstGeom prst="chevron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2999232"/>
            <a:ext cx="658368" cy="493776"/>
          </a:xfrm>
          <a:prstGeom prst="chevron">
            <a:avLst/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APIs usadas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5230368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528523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subprocess.Popen()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37560" y="5230368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528523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Popen.pid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0" y="5230368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528523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Popen.wait()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83880" y="5230368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28281F"/>
          </a:solidFill>
          <a:ln w="12700">
            <a:solidFill>
              <a:srgbClr val="2828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7032" y="528523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sys.executable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8680" y="587044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D5A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 = Process Identifier  •  wait() faz o pai aguardar o término do filho  •  a ordem de algumas mensagens pode variar pelo escalonamento.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 rot="2700000">
            <a:off x="10012680" y="-73152"/>
            <a:ext cx="1874520" cy="1874520"/>
          </a:xfrm>
          <a:prstGeom prst="blockArc">
            <a:avLst/>
          </a:prstGeom>
          <a:solidFill>
            <a:srgbClr val="DAD5C7">
              <a:alpha val="82000"/>
            </a:srgbClr>
          </a:solidFill>
          <a:ln w="12700">
            <a:solidFill>
              <a:srgbClr val="DAD5C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64282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87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Gerenciamento de processos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E8A7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10287000" y="5074920"/>
            <a:ext cx="1417320" cy="1417320"/>
          </a:xfrm>
          <a:prstGeom prst="blockArc">
            <a:avLst/>
          </a:prstGeom>
          <a:solidFill>
            <a:srgbClr val="F6B092">
              <a:alpha val="84000"/>
            </a:srgbClr>
          </a:solidFill>
          <a:ln w="12700">
            <a:solidFill>
              <a:srgbClr val="F6B09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109728" y="5102352"/>
            <a:ext cx="1234440" cy="1234440"/>
          </a:xfrm>
          <a:prstGeom prst="blockArc">
            <a:avLst/>
          </a:prstGeom>
          <a:solidFill>
            <a:srgbClr val="F6B092">
              <a:alpha val="80000"/>
            </a:srgbClr>
          </a:solidFill>
          <a:ln w="12700">
            <a:solidFill>
              <a:srgbClr val="F6B09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858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EE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Perguntas que podem cair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" y="135331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F1EE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Quatro respostas curtas para fechar a apresentação com segurança.</a:t>
            </a:r>
            <a:endParaRPr lang="en-US" sz="143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074920" cy="1234440"/>
          </a:xfrm>
          <a:prstGeom prst="roundRect">
            <a:avLst>
              <a:gd name="adj" fmla="val 10370"/>
            </a:avLst>
          </a:prstGeom>
          <a:solidFill>
            <a:srgbClr val="F1EEE3"/>
          </a:solidFill>
          <a:ln w="12700">
            <a:solidFill>
              <a:srgbClr val="F1EEE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176272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O que foi implementado?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024128" y="2578608"/>
            <a:ext cx="4672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aplicação CLI que demonstra seis operações em quatro categorias de serviços do SO.</a:t>
            </a:r>
            <a:endParaRPr lang="en-US" sz="117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074920" cy="1234440"/>
          </a:xfrm>
          <a:prstGeom prst="roundRect">
            <a:avLst>
              <a:gd name="adj" fmla="val 10370"/>
            </a:avLst>
          </a:prstGeom>
          <a:solidFill>
            <a:srgbClr val="F1EEE3"/>
          </a:solidFill>
          <a:ln w="12700">
            <a:solidFill>
              <a:srgbClr val="F1EEE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2176272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Qual API/função foi usada?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6510528" y="2578608"/>
            <a:ext cx="4672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Path/open/read/write, platform, os.getpid() e subprocess.Popen()/wait().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5074920" cy="1234440"/>
          </a:xfrm>
          <a:prstGeom prst="roundRect">
            <a:avLst>
              <a:gd name="adj" fmla="val 10370"/>
            </a:avLst>
          </a:prstGeom>
          <a:solidFill>
            <a:srgbClr val="F1EEE3"/>
          </a:solidFill>
          <a:ln w="12700">
            <a:solidFill>
              <a:srgbClr val="F1EEE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685032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Qual serviço do SO está envolvido?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1024128" y="4087368"/>
            <a:ext cx="4672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arquivos, diretórios, informações do ambiente e gerenciamento de processos.</a:t>
            </a:r>
            <a:endParaRPr lang="en-US" sz="1170" dirty="0"/>
          </a:p>
        </p:txBody>
      </p:sp>
      <p:sp>
        <p:nvSpPr>
          <p:cNvPr id="15" name="Shape 13"/>
          <p:cNvSpPr/>
          <p:nvPr/>
        </p:nvSpPr>
        <p:spPr>
          <a:xfrm>
            <a:off x="6309360" y="3520440"/>
            <a:ext cx="5074920" cy="1234440"/>
          </a:xfrm>
          <a:prstGeom prst="roundRect">
            <a:avLst>
              <a:gd name="adj" fmla="val 10370"/>
            </a:avLst>
          </a:prstGeom>
          <a:solidFill>
            <a:srgbClr val="F1EEE3"/>
          </a:solidFill>
          <a:ln w="12700">
            <a:solidFill>
              <a:srgbClr val="F1EEE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3685032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65A2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Como demonstrar?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6510528" y="4087368"/>
            <a:ext cx="4672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python main.py e escolha 7 para percorrer todas as operações em sequência.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3154680" y="523036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EEE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Obrigado!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97764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28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Dúvidas ou perguntas?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642823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BD5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Encerramento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7D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Projeto acadêmico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ExploraSO — Explorador de Serviços do Sistema Operacional</dc:title>
  <dc:subject>Apresentação acadêmica do projeto ExploraSO</dc:subject>
  <dc:creator>OpenAI</dc:creator>
  <cp:lastModifiedBy>OpenAI</cp:lastModifiedBy>
  <cp:revision>1</cp:revision>
  <dcterms:created xsi:type="dcterms:W3CDTF">2026-09-15T18:53:32Z</dcterms:created>
  <dcterms:modified xsi:type="dcterms:W3CDTF">2026-09-15T18:53:32Z</dcterms:modified>
</cp:coreProperties>
</file>